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media/image2.svg" ContentType="image/svg"/>
  <Override PartName="/ppt/media/image1.png" ContentType="image/pn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6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DD5445-E687-440D-9B05-3C1B2E65490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CB63F2-AA85-4E42-BDA6-F31B6FBFADB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B378C8-CA92-460D-BC89-9D45AFBAFA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98520"/>
            <a:ext cx="907056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Ch.7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 Structure,culture and change management in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information systems</a:t>
            </a:r>
            <a:br>
              <a:rPr sz="4400"/>
            </a:br>
            <a:br>
              <a:rPr sz="4400"/>
            </a:b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1631520" y="3381480"/>
            <a:ext cx="4432680" cy="20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By: Mohammed Ahmed Mohammed Shaheen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347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Organisational structure and culture are fundamental factors to be considered in information systems strategic management (ISSM).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An organizational structure is defined as a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set of entities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that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collaborate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and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contribute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towards a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common goal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Organizational culture is defined as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shared values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beliefs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or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perceptions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held by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employees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within an organization, which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influences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their attitudes and behaviors, thereby impacting teamwork and performance.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 AND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171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040040" y="2284200"/>
            <a:ext cx="8046720" cy="1097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1205280" y="2380680"/>
            <a:ext cx="77454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“Strategy cannot be formulated and implemented independently of the type of organisation concerned”.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 AND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56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Classification of organisations by Jackson (1987)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1-Machines: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rule-based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systems can be used to control operations in a deterministic environment: that is, one in which, if the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inputs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to the process are known,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outputs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can be predicted with a high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degree of certainty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2-Organisms: combination of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sub-systems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interacting together and attempting to maintain a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‘steady state’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within their environment.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3- Cultures: the primary consideration in any organisation is its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functioning as a social structure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4-Coercive systems: functioning according to power structures.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power structure: a group of persons having control of an organization.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1024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 AND 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040040" y="2284200"/>
            <a:ext cx="8046720" cy="1097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1040040" y="2380680"/>
            <a:ext cx="8046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However, whilst Jackson’s work lays a foundation for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understanding the structure/culture conflict in organisations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it is Mintzberg who has provided the primary classificatory framework.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8320" y="948960"/>
            <a:ext cx="9854640" cy="456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Organisations are subject to seven forces “Mintzberg (1991)”: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1-Direction: strategic direction or vision of the organisation.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2- Proficiency: knowledge and skill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3-Innovation:the requirement to adapt and to learn about changing circumstances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4- Concentration: requirement for certain parts of the organisation to concentrate their effort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5- Efficiency: cost-benefit problem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forces for co-operation and competition which lie within the pentagon, Mintzberg sees as catalytic, and related to culture ...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6- Co-operation: The pulling together of ideology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7-Competition: rests on conflict(clash) 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040040" y="1526040"/>
            <a:ext cx="8046720" cy="2710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1040040" y="1599120"/>
            <a:ext cx="8046720" cy="23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argument to be drawn from this is</a:t>
            </a: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 not that any one organisation will match neatly any one of the forms and forces defined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but that by using a model ( </a:t>
            </a: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mix of forces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which are affecting a given organisation and the </a:t>
            </a: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structural mix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that it might need in order to deal with that).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040040" y="1526040"/>
            <a:ext cx="8046720" cy="2001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1040040" y="1599120"/>
            <a:ext cx="8046720" cy="179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Mintzberg counsels against becoming too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attached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to any given configuration within an organisation.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‘the dominance of a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single force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but also the constraining effects of other forces’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ORGANISATIONAL 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005840"/>
            <a:ext cx="9070560" cy="21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culture </a:t>
            </a:r>
            <a:r>
              <a:rPr b="0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affects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management of information?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Culture emerges from the </a:t>
            </a:r>
            <a:r>
              <a:rPr b="0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social interaction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of all organisational members – </a:t>
            </a:r>
            <a:r>
              <a:rPr b="0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managers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are as much a </a:t>
            </a:r>
            <a:r>
              <a:rPr b="0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part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</a:t>
            </a:r>
            <a:r>
              <a:rPr b="0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product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of the culture as all other members; they are not a special group standing proud of the culture and managing it.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6700320" y="3160440"/>
            <a:ext cx="3379680" cy="25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2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ORGANISATIONAL 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3"/>
          <p:cNvSpPr/>
          <p:nvPr/>
        </p:nvSpPr>
        <p:spPr>
          <a:xfrm>
            <a:off x="262440" y="1239480"/>
            <a:ext cx="9312120" cy="22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essential view of organisational culture is embedded in 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1-Symbols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are the shared codes of meaning within the organisation.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2-Myths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are evident in all organisations.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3-Ideology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is an organisation’s systems of  knowledge or set of beliefs about the social world.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4-Rituals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within organisations help to cement the underlying values.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967040" y="1207080"/>
            <a:ext cx="5664960" cy="420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3"/>
          <p:cNvSpPr/>
          <p:nvPr/>
        </p:nvSpPr>
        <p:spPr>
          <a:xfrm>
            <a:off x="504000" y="453960"/>
            <a:ext cx="907056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ORGANISATIONAL 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1040040" y="1720440"/>
            <a:ext cx="8046720" cy="1563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1040040" y="1777680"/>
            <a:ext cx="804672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Formulating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and </a:t>
            </a:r>
            <a:r>
              <a:rPr b="0" lang="en-US" sz="26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implementing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strategies for improving the use of information in organisations inevitably(itself) implies some form of change.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4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ORGANISATIONAL CULTURE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MANAGING STRATEGIC CHANGE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40040" y="1283040"/>
            <a:ext cx="8046720" cy="4091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1040040" y="1456560"/>
            <a:ext cx="8046720" cy="37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Information systems strategic change management has been dominated by methods which aim to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plan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control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the change process 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1-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otal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q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uality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anagement (TQM)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2-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usiness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rocess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e-engineering (BPR)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TQM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BPR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aim to alter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structure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of the organisation and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processes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which make up its activities, whilst the people within the organisation have to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adapt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these new conditions.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560" cy="404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TQM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implement change successfully where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people have different interests and values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(Jackson, 1995), assuming, as it does, a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common culture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throughout the organisation.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BPR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offers a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series of tools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for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identifying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the necessary change and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rebuilding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the organisation in a new image.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BPR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has little to say about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problems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beyond organisational processes: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‘If re-engineering fails, no matter what the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proximate(nearest) cause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underlying(following)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reason can invariably be traced to senior managers’ inadequate(incomplete) understanding or leadership of the re-engineering effort’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7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MANAGING STRATEGIC CHANGE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1157040" y="2089080"/>
            <a:ext cx="8046720" cy="2487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1157040" y="2262600"/>
            <a:ext cx="8046720" cy="23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Failure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change the organisational culture can lead to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failure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of the organisation.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organizations rely in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short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medium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term on emergent(old) strategies without undergoing any fundamental changes to structure, culture or people, the evidence suggests that eventually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they will die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8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MANAGING STRATEGIC CHANGE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STRATEGIC CHANGE AND INFORMATION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SYSTEMS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157040" y="2089440"/>
            <a:ext cx="8046720" cy="2011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1157040" y="2262960"/>
            <a:ext cx="8046720" cy="18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Orlikowski and Hofman (1997)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see the traditional approach to change in organisations as one which starts with a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plan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and then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manages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 change according to that plan, with any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alterations(modifications)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being matched by changes to the plan.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560" cy="404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Since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technologies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be implemented and the organisational impact of those technologies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is not predictable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a planned approach is not seen as feasible.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What is required is an approach to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change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which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allows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for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emerging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needs,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unanticipated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outcomes,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continuous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innovation and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learning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within the organisation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0"/>
          <p:cNvSpPr/>
          <p:nvPr/>
        </p:nvSpPr>
        <p:spPr>
          <a:xfrm>
            <a:off x="504000" y="210960"/>
            <a:ext cx="907056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STRATEGIC CHANGE AND INFORMATION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560" cy="404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Drawing on MIT’s ‘Management in the 1990s’ programme,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Benjamin and Levinson (1993)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see the bias towards technology, rather than ‘managing changes in process and organisational structure and culture’, as a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fundamental cause of IT benefits not being realised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 move is proposed away from what is seen as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traditional way of managing change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through a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management hierarchy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to an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‘informated organisation’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within which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all have access to information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and are empowered to use it.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2"/>
          <p:cNvSpPr/>
          <p:nvPr/>
        </p:nvSpPr>
        <p:spPr>
          <a:xfrm>
            <a:off x="504000" y="210960"/>
            <a:ext cx="907056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STRATEGIC CHANGE AND INFORMATION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410560" y="4881960"/>
            <a:ext cx="512136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Management hierarchy: next page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24"/>
          <p:cNvSpPr/>
          <p:nvPr/>
        </p:nvSpPr>
        <p:spPr>
          <a:xfrm>
            <a:off x="504000" y="210960"/>
            <a:ext cx="907056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STRATEGIC CHANGE AND INFORMATION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195560" y="1186920"/>
            <a:ext cx="8472240" cy="42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690480" y="1490040"/>
            <a:ext cx="432432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Management hierarchy: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23"/>
          <p:cNvSpPr/>
          <p:nvPr/>
        </p:nvSpPr>
        <p:spPr>
          <a:xfrm>
            <a:off x="504000" y="1484280"/>
            <a:ext cx="9070560" cy="27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TOWARD A FRAMEWORK FOR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INFORMATION SYSTEMS CHANGE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MANAGEMENT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26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Positioning the organisation</a:t>
            </a: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176480" y="2099520"/>
            <a:ext cx="8046720" cy="2011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1176480" y="2273040"/>
            <a:ext cx="8046720" cy="18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Studies by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 Argyris and Schon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(1974) suggest that organisations must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determine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their position on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grid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(Figure 7.2), the aim being to move towards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bottom right.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25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Positioning the organisation</a:t>
            </a: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1209240" y="1312920"/>
            <a:ext cx="7702920" cy="410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27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Monitoring organisational effectiveness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176480" y="2099520"/>
            <a:ext cx="8046720" cy="2292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1176480" y="2273040"/>
            <a:ext cx="8046720" cy="18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matrix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for monitoring(control) organisational effectiveness in change situations is proposed by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Carnall (1990)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grid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(Figure 7.3) maps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efficiency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effectiveness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on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horizontal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axis, against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quantitative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qualitative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measures on the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vertical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axis.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28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Monitoring organisational effectiveness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059120" y="1153080"/>
            <a:ext cx="7911000" cy="416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29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Blocks to change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76480" y="2099520"/>
            <a:ext cx="8046720" cy="1136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1176480" y="2273040"/>
            <a:ext cx="8046720" cy="1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Also important in this respect is the need to identify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blocks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change (Adams, 1987).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30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Blocks to change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1"/>
          <p:cNvSpPr/>
          <p:nvPr/>
        </p:nvSpPr>
        <p:spPr>
          <a:xfrm>
            <a:off x="504000" y="1326960"/>
            <a:ext cx="9428400" cy="40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Such as an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unwillingness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change the way things are done.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unblock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needs open management, free expression and a willingness to discuss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negatives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as well as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positives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Argyris (1985) stresses this as the need for ‘open confrontation(facing) of issues’.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32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Change styles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176480" y="2099520"/>
            <a:ext cx="8046720" cy="1136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"/>
          <p:cNvSpPr/>
          <p:nvPr/>
        </p:nvSpPr>
        <p:spPr>
          <a:xfrm>
            <a:off x="1176480" y="2273040"/>
            <a:ext cx="804672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Three styles are seen to be important (Boddy and Buchanan, 1992):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imposition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; education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communication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; and </a:t>
            </a:r>
            <a:r>
              <a:rPr b="0" lang="en-US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participation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34"/>
          <p:cNvSpPr/>
          <p:nvPr/>
        </p:nvSpPr>
        <p:spPr>
          <a:xfrm>
            <a:off x="504000" y="1326960"/>
            <a:ext cx="9428400" cy="40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Whilst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imposition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might be seen as possible through a manipulative approach to change,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other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styles clearly need to be supported through a participative framework.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People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need help in coping with change: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‘People need to understand the new system if they are to understand their own part in it’ (Carnall, 1990).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Many advantages are cited for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involving people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(improved decisions, better understanding and so on).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keys to this are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flexibility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team building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networking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communication skills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(stimulating(exciting) motivation in others), and the </a:t>
            </a: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ability to take a holistic(overall) view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3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Change styles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36"/>
          <p:cNvSpPr/>
          <p:nvPr/>
        </p:nvSpPr>
        <p:spPr>
          <a:xfrm>
            <a:off x="504000" y="225000"/>
            <a:ext cx="907056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Change styles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358640" y="1587960"/>
            <a:ext cx="6931440" cy="386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847600" y="1748160"/>
            <a:ext cx="4566600" cy="20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60" strike="noStrike" u="none">
                <a:solidFill>
                  <a:srgbClr val="000000"/>
                </a:solidFill>
                <a:effectLst/>
                <a:uFillTx/>
                <a:latin typeface="Blackadder ITC"/>
              </a:rPr>
              <a:t>Than you</a:t>
            </a:r>
            <a:endParaRPr b="0" lang="en-US" sz="10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2025-12-07T21:44:19Z</dcterms:created>
  <dc:creator/>
  <dc:description>This work is licensed under a Creative Commons Attribution-ShareAlike 3.0 Unported License.
It makes use of the works of Mateus Machado Luna.
SVG pictures were made by Rizmut.</dc:description>
  <dc:language>en-US</dc:language>
  <cp:lastModifiedBy/>
  <dcterms:modified xsi:type="dcterms:W3CDTF">2025-12-09T09:27:17Z</dcterms:modified>
  <cp:revision>26</cp:revision>
  <dc:subject/>
  <dc:title>Blueprint Plans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